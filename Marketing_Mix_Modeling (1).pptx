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9BD5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7FB2E5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A9CDE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D3E6F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Base</c:v>
                </c:pt>
                <c:pt idx="1">
                  <c:v>Media</c:v>
                </c:pt>
                <c:pt idx="2">
                  <c:v>Promo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38</c:v>
                </c:pt>
                <c:pt idx="2">
                  <c:v>12</c:v>
                </c:pt>
                <c:pt idx="3">
                  <c:v>5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9BD5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7FB2E5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A9CDEF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D3E6F8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EAF2FB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6233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6233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6233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6233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6233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Base / Organic</c:v>
                </c:pt>
                <c:pt idx="1">
                  <c:v>TV</c:v>
                </c:pt>
                <c:pt idx="2">
                  <c:v>Digital</c:v>
                </c:pt>
                <c:pt idx="3">
                  <c:v>Promotions</c:v>
                </c:pt>
                <c:pt idx="4">
                  <c:v>Social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45</c:v>
                </c:pt>
                <c:pt idx="1">
                  <c:v>20</c:v>
                </c:pt>
                <c:pt idx="2">
                  <c:v>18</c:v>
                </c:pt>
                <c:pt idx="3">
                  <c:v>12</c:v>
                </c:pt>
                <c:pt idx="4">
                  <c:v>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rgbClr val="5B9BD5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3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Digital</c:v>
                  </c:pt>
                  <c:pt idx="1">
                    <c:v>Search</c:v>
                  </c:pt>
                  <c:pt idx="2">
                    <c:v>TV</c:v>
                  </c:pt>
                  <c:pt idx="3">
                    <c:v>Social</c:v>
                  </c:pt>
                  <c:pt idx="4">
                    <c:v>Promotions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</c:v>
                </c:pt>
                <c:pt idx="1">
                  <c:v>3.2</c:v>
                </c:pt>
                <c:pt idx="2">
                  <c:v>2.1</c:v>
                </c:pt>
                <c:pt idx="3">
                  <c:v>1.9</c:v>
                </c:pt>
                <c:pt idx="4">
                  <c:v>1.4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623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A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Sales (indexed)</c:v>
                </c:pt>
              </c:strCache>
            </c:strRef>
          </c:tx>
          <c:spPr>
            <a:solidFill>
              <a:srgbClr val="5B9BD5"/>
            </a:solidFill>
            <a:ln w="38100" cap="flat">
              <a:solidFill>
                <a:srgbClr val="5B9BD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5B9BD5"/>
              </a:solidFill>
              <a:ln w="9525" cap="flat">
                <a:solidFill>
                  <a:srgbClr val="5B9BD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82</c:v>
                </c:pt>
                <c:pt idx="1">
                  <c:v>80</c:v>
                </c:pt>
                <c:pt idx="2">
                  <c:v>88</c:v>
                </c:pt>
                <c:pt idx="3">
                  <c:v>90</c:v>
                </c:pt>
                <c:pt idx="4">
                  <c:v>95</c:v>
                </c:pt>
                <c:pt idx="5">
                  <c:v>98</c:v>
                </c:pt>
                <c:pt idx="6">
                  <c:v>101</c:v>
                </c:pt>
                <c:pt idx="7">
                  <c:v>99</c:v>
                </c:pt>
                <c:pt idx="8">
                  <c:v>104</c:v>
                </c:pt>
                <c:pt idx="9">
                  <c:v>112</c:v>
                </c:pt>
                <c:pt idx="10">
                  <c:v>138</c:v>
                </c:pt>
                <c:pt idx="11">
                  <c:v>150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(no marketing)</c:v>
                </c:pt>
              </c:strCache>
            </c:strRef>
          </c:tx>
          <c:spPr>
            <a:solidFill>
              <a:srgbClr val="A9CDEF"/>
            </a:solidFill>
            <a:ln w="38100" cap="flat">
              <a:solidFill>
                <a:srgbClr val="A9CDE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A9CDEF"/>
              </a:solidFill>
              <a:ln w="9525" cap="flat">
                <a:solidFill>
                  <a:srgbClr val="A9CDE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70</c:v>
                </c:pt>
                <c:pt idx="1">
                  <c:v>69</c:v>
                </c:pt>
                <c:pt idx="2">
                  <c:v>71</c:v>
                </c:pt>
                <c:pt idx="3">
                  <c:v>72</c:v>
                </c:pt>
                <c:pt idx="4">
                  <c:v>74</c:v>
                </c:pt>
                <c:pt idx="5">
                  <c:v>75</c:v>
                </c:pt>
                <c:pt idx="6">
                  <c:v>77</c:v>
                </c:pt>
                <c:pt idx="7">
                  <c:v>76</c:v>
                </c:pt>
                <c:pt idx="8">
                  <c:v>78</c:v>
                </c:pt>
                <c:pt idx="9">
                  <c:v>80</c:v>
                </c:pt>
                <c:pt idx="10">
                  <c:v>83</c:v>
                </c:pt>
                <c:pt idx="11">
                  <c:v>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B4A6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Allocation</c:v>
                </c:pt>
              </c:strCache>
            </c:strRef>
          </c:tx>
          <c:spPr>
            <a:solidFill>
              <a:srgbClr val="D3E6F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B4A6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TV</c:v>
                  </c:pt>
                  <c:pt idx="1">
                    <c:v>Digital</c:v>
                  </c:pt>
                  <c:pt idx="2">
                    <c:v>Search</c:v>
                  </c:pt>
                  <c:pt idx="3">
                    <c:v>Social</c:v>
                  </c:pt>
                  <c:pt idx="4">
                    <c:v>Promotions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22</c:v>
                </c:pt>
                <c:pt idx="2">
                  <c:v>15</c:v>
                </c:pt>
                <c:pt idx="3">
                  <c:v>10</c:v>
                </c:pt>
                <c:pt idx="4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Recommended Allocation</c:v>
                </c:pt>
              </c:strCache>
            </c:strRef>
          </c:tx>
          <c:spPr>
            <a:solidFill>
              <a:srgbClr val="5B9BD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B4A6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TV</c:v>
                  </c:pt>
                  <c:pt idx="1">
                    <c:v>Digital</c:v>
                  </c:pt>
                  <c:pt idx="2">
                    <c:v>Search</c:v>
                  </c:pt>
                  <c:pt idx="3">
                    <c:v>Social</c:v>
                  </c:pt>
                  <c:pt idx="4">
                    <c:v>Promotions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</c:v>
                </c:pt>
                <c:pt idx="1">
                  <c:v>32</c:v>
                </c:pt>
                <c:pt idx="2">
                  <c:v>20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B4A6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A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B4A6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1097280" y="-1097280"/>
            <a:ext cx="4114800" cy="2926080"/>
          </a:xfrm>
          <a:prstGeom prst="rect">
            <a:avLst/>
          </a:prstGeom>
          <a:solidFill>
            <a:srgbClr val="D3E6F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-1371600" y="-548640"/>
            <a:ext cx="2926080" cy="2011680"/>
          </a:xfrm>
          <a:prstGeom prst="rect">
            <a:avLst/>
          </a:prstGeom>
          <a:solidFill>
            <a:srgbClr val="A9CD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30352"/>
            <a:ext cx="237744" cy="237744"/>
          </a:xfrm>
          <a:prstGeom prst="star4">
            <a:avLst/>
          </a:prstGeom>
          <a:solidFill>
            <a:srgbClr val="5B9BD5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475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SAVVY FINANCE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</a:t>
            </a:r>
            <a:endParaRPr lang="en-US" sz="46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time series data on sales, ad spend, promotions, and seasonality to estimate how much each marketing channel truly contributes — and where budget should move next.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MARKETING &amp; FINANCE LEADERSHIP TEAM</a:t>
            </a:r>
            <a:endParaRPr lang="en-US" sz="10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686800" y="1828800"/>
          <a:ext cx="3017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Modeling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237744" cy="237744"/>
          </a:xfrm>
          <a:prstGeom prst="star4">
            <a:avLst/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29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SAVVY FINANCE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20624" cy="42062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91109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Marketing Mix Modeling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2585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time-series analysis beats gut-feel budgeting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965960"/>
            <a:ext cx="420624" cy="42062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9440" y="191109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Inputs We Use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22585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spend, promotions, and seasonal signals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420624" cy="42062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1912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5387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 validated contribution model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3246120"/>
            <a:ext cx="420624" cy="42062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31912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Contribution Results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35387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sales each channel really drives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420624" cy="42062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526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44714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Seasonality Insights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4818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spend works hardest, and when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4526280"/>
            <a:ext cx="420624" cy="42062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4526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44714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Reallocation Plan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49440" y="4818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shift to grow sales, not spend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Modeling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237744" cy="237744"/>
          </a:xfrm>
          <a:prstGeom prst="star4">
            <a:avLst/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29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SAVVY FINANCE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Marketing Mix Modeling?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Modeling (MMM) is a statistical approach that analyzes historical time series data to separate sales into the factors that actually drove them. Instead of guessing which channel deserves credit, MMM quantifies it — giving leadership a defensible, data-driven basis for planning next year's budget.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6233F"/>
                </a:solidFill>
              </a:rPr>
              <a:t>Answers it provides: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B4A66"/>
                </a:solidFill>
              </a:rPr>
              <a:t>• How much of sales is baseline demand vs. marketing-driven?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B4A66"/>
                </a:solidFill>
              </a:rPr>
              <a:t>• Which channels deliver the strongest return?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B4A66"/>
                </a:solidFill>
              </a:rPr>
              <a:t>• How should budget move to grow sales?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2788920"/>
            <a:ext cx="1481328" cy="1417320"/>
          </a:xfrm>
          <a:prstGeom prst="roundRect">
            <a:avLst>
              <a:gd name="adj" fmla="val 6452"/>
            </a:avLst>
          </a:prstGeom>
          <a:solidFill>
            <a:srgbClr val="D3E6F8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293522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3282696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spend,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promo, season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44968" y="3332988"/>
            <a:ext cx="320040" cy="329184"/>
          </a:xfrm>
          <a:prstGeom prst="rightArrow">
            <a:avLst/>
          </a:prstGeom>
          <a:solidFill>
            <a:srgbClr val="A9CDEF"/>
          </a:solidFill>
          <a:ln/>
        </p:spPr>
      </p:sp>
      <p:sp>
        <p:nvSpPr>
          <p:cNvPr id="11" name="Shape 9"/>
          <p:cNvSpPr/>
          <p:nvPr/>
        </p:nvSpPr>
        <p:spPr>
          <a:xfrm>
            <a:off x="8065008" y="2788920"/>
            <a:ext cx="1481328" cy="1417320"/>
          </a:xfrm>
          <a:prstGeom prst="roundRect">
            <a:avLst>
              <a:gd name="adj" fmla="val 6452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293522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MMM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10728" y="3447288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546336" y="3332988"/>
            <a:ext cx="320040" cy="329184"/>
          </a:xfrm>
          <a:prstGeom prst="rightArrow">
            <a:avLst/>
          </a:prstGeom>
          <a:solidFill>
            <a:srgbClr val="A9CDEF"/>
          </a:solidFill>
          <a:ln/>
        </p:spPr>
      </p:sp>
      <p:sp>
        <p:nvSpPr>
          <p:cNvPr id="15" name="Shape 13"/>
          <p:cNvSpPr/>
          <p:nvPr/>
        </p:nvSpPr>
        <p:spPr>
          <a:xfrm>
            <a:off x="9866376" y="2496312"/>
            <a:ext cx="1481328" cy="2002536"/>
          </a:xfrm>
          <a:prstGeom prst="roundRect">
            <a:avLst>
              <a:gd name="adj" fmla="val 6173"/>
            </a:avLst>
          </a:prstGeom>
          <a:solidFill>
            <a:srgbClr val="16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9866376" y="269748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912096" y="3044952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3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Contribution,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3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ROI, budget plan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Modeling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237744" cy="237744"/>
          </a:xfrm>
          <a:prstGeom prst="star4">
            <a:avLst/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29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SAVVY FINANCE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Behind the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time series, aligned weekly, feed the model.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EEF4F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957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C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8529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27355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revenue and units sold — the outcome the model explains.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219456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EEF4FC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3957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C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29400" y="28529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by Channel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327355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TV, digital, social, and search spend tracked over 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EEF4F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98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C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" y="49560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&amp; Pricing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37667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depth, promo calendars, and price changes.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429768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EEF4FC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498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C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9400" y="49560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&amp; External Factors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537667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Holidays, weather, and macro/competitor activity.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Modeling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237744" cy="237744"/>
          </a:xfrm>
          <a:prstGeom prst="star4">
            <a:avLst/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29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SAVVY FINANCE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Insight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five-step modeling pipeline, re-run each quarter.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3246120"/>
            <a:ext cx="9875520" cy="0"/>
          </a:xfrm>
          <a:prstGeom prst="line">
            <a:avLst/>
          </a:prstGeom>
          <a:noFill/>
          <a:ln w="25400">
            <a:solidFill>
              <a:srgbClr val="A9CDE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463040" y="3035808"/>
            <a:ext cx="420624" cy="42062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630168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Clean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142232"/>
            <a:ext cx="19293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sales, spend, promo, and seasonality to one weekly timeline.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29584" y="3035808"/>
            <a:ext cx="420624" cy="42062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3529584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06624" y="3630168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06624" y="4142232"/>
            <a:ext cx="19293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adstock (carryover) and diminishing returns per channel.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96128" y="3035808"/>
            <a:ext cx="420624" cy="42062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6" name="Text 14"/>
          <p:cNvSpPr/>
          <p:nvPr/>
        </p:nvSpPr>
        <p:spPr>
          <a:xfrm>
            <a:off x="5596128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73168" y="3630168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73168" y="4142232"/>
            <a:ext cx="19293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/ Bayesian model estimates each channel's contribution.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62672" y="3035808"/>
            <a:ext cx="420624" cy="42062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0" name="Text 18"/>
          <p:cNvSpPr/>
          <p:nvPr/>
        </p:nvSpPr>
        <p:spPr>
          <a:xfrm>
            <a:off x="7662672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39712" y="3630168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39712" y="4142232"/>
            <a:ext cx="19293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Back-test against holdout periods and known promo events.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729216" y="3035808"/>
            <a:ext cx="420624" cy="42062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4" name="Text 22"/>
          <p:cNvSpPr/>
          <p:nvPr/>
        </p:nvSpPr>
        <p:spPr>
          <a:xfrm>
            <a:off x="9729216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06256" y="3630168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Insights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06256" y="4142232"/>
            <a:ext cx="19293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coefficients into ROI and reallocation guidance.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Modeling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1097280" y="-1097280"/>
            <a:ext cx="4114800" cy="2926080"/>
          </a:xfrm>
          <a:prstGeom prst="rect">
            <a:avLst/>
          </a:prstGeom>
          <a:solidFill>
            <a:srgbClr val="D3E6F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-1371600" y="-548640"/>
            <a:ext cx="2926080" cy="2011680"/>
          </a:xfrm>
          <a:prstGeom prst="rect">
            <a:avLst/>
          </a:prstGeom>
          <a:solidFill>
            <a:srgbClr val="A9CD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84632"/>
            <a:ext cx="237744" cy="237744"/>
          </a:xfrm>
          <a:prstGeom prst="star4">
            <a:avLst/>
          </a:prstGeom>
          <a:solidFill>
            <a:srgbClr val="5B9BD5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429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SAVVY FINANCE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decomposes total sales into a baseline — demand that would exist with zero marketing — and incremental lift from each channel. Base demand remains the largest share, but media and promotions together drive over half of incremental volume.</a:t>
            </a:r>
            <a:endParaRPr lang="en-US" sz="13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0" y="914400"/>
          <a:ext cx="51206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537960" y="5650992"/>
            <a:ext cx="128016" cy="128016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0" name="Text 7"/>
          <p:cNvSpPr/>
          <p:nvPr/>
        </p:nvSpPr>
        <p:spPr>
          <a:xfrm>
            <a:off x="6720840" y="55686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/ Organic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229600" y="5650992"/>
            <a:ext cx="128016" cy="128016"/>
          </a:xfrm>
          <a:prstGeom prst="ellipse">
            <a:avLst/>
          </a:prstGeom>
          <a:solidFill>
            <a:srgbClr val="7FB2E5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0" y="55686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921240" y="5650992"/>
            <a:ext cx="128016" cy="128016"/>
          </a:xfrm>
          <a:prstGeom prst="ellipse">
            <a:avLst/>
          </a:prstGeom>
          <a:solidFill>
            <a:srgbClr val="A9CDEF"/>
          </a:solidFill>
          <a:ln/>
        </p:spPr>
      </p:sp>
      <p:sp>
        <p:nvSpPr>
          <p:cNvPr id="14" name="Text 11"/>
          <p:cNvSpPr/>
          <p:nvPr/>
        </p:nvSpPr>
        <p:spPr>
          <a:xfrm>
            <a:off x="10104120" y="55686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37960" y="5943600"/>
            <a:ext cx="128016" cy="128016"/>
          </a:xfrm>
          <a:prstGeom prst="ellipse">
            <a:avLst/>
          </a:prstGeom>
          <a:solidFill>
            <a:srgbClr val="D3E6F8"/>
          </a:solidFill>
          <a:ln/>
        </p:spPr>
      </p:sp>
      <p:sp>
        <p:nvSpPr>
          <p:cNvPr id="16" name="Text 13"/>
          <p:cNvSpPr/>
          <p:nvPr/>
        </p:nvSpPr>
        <p:spPr>
          <a:xfrm>
            <a:off x="6720840" y="58613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229600" y="5943600"/>
            <a:ext cx="128016" cy="128016"/>
          </a:xfrm>
          <a:prstGeom prst="ellipse">
            <a:avLst/>
          </a:prstGeom>
          <a:solidFill>
            <a:srgbClr val="EAF2FB"/>
          </a:solidFill>
          <a:ln w="9525">
            <a:solidFill>
              <a:srgbClr val="C9DF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0" y="58613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Modeling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237744" cy="237744"/>
          </a:xfrm>
          <a:prstGeom prst="star4">
            <a:avLst/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29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SAVVY FINANCE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Ad Spend by Channel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incremental sales generated per $1 of spend.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48840"/>
          <a:ext cx="11064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Modeling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237744" cy="237744"/>
          </a:xfrm>
          <a:prstGeom prst="star4">
            <a:avLst/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29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SAVVY FINANCE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&amp; Seasonality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isolates seasonal lift from media-driven lift month over month.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48840"/>
          <a:ext cx="11064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Modeling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237744" cy="237744"/>
          </a:xfrm>
          <a:prstGeom prst="star4">
            <a:avLst/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29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SAVVY FINANCE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Budget Reallocation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spend toward higher-ROI channels, holding total budget flat.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48840"/>
          <a:ext cx="11064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Modeling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6032" cy="256032"/>
          </a:xfrm>
          <a:prstGeom prst="star4">
            <a:avLst/>
          </a:prstGeom>
          <a:solidFill>
            <a:srgbClr val="A9CDE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SAVVY FINANCE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20624" cy="42062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0299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demand still leads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432304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3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45% of sales happen without marketing — brand strength is the foundation.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2103120"/>
            <a:ext cx="420624" cy="42062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9440" y="20299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&amp; search lead ROI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2432304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3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channels return the most incremental sales per dollar spent today.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420624" cy="42062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0873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builds the brand, slowly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4489704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3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long-term contribution, but the lowest short-term return of paid channels.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55080" y="4160520"/>
            <a:ext cx="420624" cy="42062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40873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Reallocation beats new spend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4489704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3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~12 points of budget from TV to digital/search lifts sales at flat cost.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1097280" y="-1097280"/>
            <a:ext cx="4114800" cy="2926080"/>
          </a:xfrm>
          <a:prstGeom prst="rect">
            <a:avLst/>
          </a:prstGeom>
          <a:solidFill>
            <a:srgbClr val="D3E6F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-1371600" y="-548640"/>
            <a:ext cx="2926080" cy="2011680"/>
          </a:xfrm>
          <a:prstGeom prst="rect">
            <a:avLst/>
          </a:prstGeom>
          <a:solidFill>
            <a:srgbClr val="A9CD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30352"/>
            <a:ext cx="237744" cy="237744"/>
          </a:xfrm>
          <a:prstGeom prst="star4">
            <a:avLst/>
          </a:prstGeom>
          <a:solidFill>
            <a:srgbClr val="5B9BD5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475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SAVVY FINANCE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— let's align on the next budget cycle.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Modeling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2026-08-20T09:59:07Z</dcterms:created>
  <dcterms:modified xsi:type="dcterms:W3CDTF">2026-08-20T09:59:07Z</dcterms:modified>
</cp:coreProperties>
</file>