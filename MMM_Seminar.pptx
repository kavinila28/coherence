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rgbClr val="0B3D66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026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3D6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B3D6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TV</c:v>
                  </c:pt>
                  <c:pt idx="1">
                    <c:v>Social Media</c:v>
                  </c:pt>
                  <c:pt idx="2">
                    <c:v>Search</c:v>
                  </c:pt>
                  <c:pt idx="3">
                    <c:v>Promotions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</c:v>
                </c:pt>
                <c:pt idx="1">
                  <c:v>2.5</c:v>
                </c:pt>
                <c:pt idx="2">
                  <c:v>3</c:v>
                </c:pt>
                <c:pt idx="3">
                  <c:v>1.4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026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6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6"/>
          <c:min val="0"/>
        </c:scaling>
        <c:delete val="0"/>
        <c:axPos val="l"/>
        <c:majorGridlines>
          <c:spPr>
            <a:ln w="1270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7284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7284"/>
                    </a:solidFill>
                    <a:latin typeface="Arial"/>
                  </a:rPr>
                  <a:t>ROI (x times spend)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2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MIX MODELING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Time-Series Data to Measure Marketing Impact &amp; Optimize Budget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700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0B3D6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1488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spend across multiple marketing channels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502920" cy="502920"/>
          </a:xfrm>
          <a:prstGeom prst="ellipse">
            <a:avLst/>
          </a:prstGeom>
          <a:solidFill>
            <a:srgbClr val="0B3D6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072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are also affected by promotions, seasonality, and pricing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502920" cy="502920"/>
          </a:xfrm>
          <a:prstGeom prst="ellipse">
            <a:avLst/>
          </a:prstGeom>
          <a:solidFill>
            <a:srgbClr val="0B3D6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46557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difficult to know which channel actually contributed to sales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123944"/>
            <a:ext cx="502920" cy="502920"/>
          </a:xfrm>
          <a:prstGeom prst="ellipse">
            <a:avLst/>
          </a:prstGeom>
          <a:solidFill>
            <a:srgbClr val="0B3D6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1239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allocation can lead to wasted marketing budget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919472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68680" y="5029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2669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should the company spend its next marketing rupee?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Modeling (MMM)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approach that uses historical time-series data to estimate the impact of different marketing activities on sales.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359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880360"/>
            <a:ext cx="457200" cy="45720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80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68680" y="3630168"/>
            <a:ext cx="457200" cy="45720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📺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63016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/ Social / Search ad spend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4379976"/>
            <a:ext cx="457200" cy="45720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37997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68680" y="5129784"/>
            <a:ext cx="457200" cy="457200"/>
          </a:xfrm>
          <a:prstGeom prst="ellipse">
            <a:avLst/>
          </a:prstGeom>
          <a:solidFill>
            <a:srgbClr val="F4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🍂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12978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053328" y="3904488"/>
            <a:ext cx="594360" cy="512064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20" name="Shape 18"/>
          <p:cNvSpPr/>
          <p:nvPr/>
        </p:nvSpPr>
        <p:spPr>
          <a:xfrm>
            <a:off x="6766560" y="2103120"/>
            <a:ext cx="4873752" cy="4114800"/>
          </a:xfrm>
          <a:prstGeom prst="roundRect">
            <a:avLst>
              <a:gd name="adj" fmla="val 1778"/>
            </a:avLst>
          </a:prstGeom>
          <a:solidFill>
            <a:srgbClr val="0B3D66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08660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520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Contribution + ROI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9006840" y="4114800"/>
            <a:ext cx="365760" cy="41148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86600" y="46177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Budget Allocation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53035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goal: turn raw spend data into a concrete allocation plan.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MMM Workflow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4652" y="1783080"/>
            <a:ext cx="1828800" cy="2331720"/>
          </a:xfrm>
          <a:prstGeom prst="roundRect">
            <a:avLst>
              <a:gd name="adj" fmla="val 3500"/>
            </a:avLst>
          </a:prstGeom>
          <a:solidFill>
            <a:srgbClr val="0B3D66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3020" y="19842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03020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54380" y="2651760"/>
            <a:ext cx="1609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64892" y="2802636"/>
            <a:ext cx="256032" cy="292608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9" name="Shape 7"/>
          <p:cNvSpPr/>
          <p:nvPr/>
        </p:nvSpPr>
        <p:spPr>
          <a:xfrm>
            <a:off x="2912364" y="1783080"/>
            <a:ext cx="1828800" cy="2331720"/>
          </a:xfrm>
          <a:prstGeom prst="roundRect">
            <a:avLst>
              <a:gd name="adj" fmla="val 35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70732" y="19842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70732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022092" y="2651760"/>
            <a:ext cx="1609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Time-Series Analysis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32604" y="2802636"/>
            <a:ext cx="256032" cy="292608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14" name="Shape 12"/>
          <p:cNvSpPr/>
          <p:nvPr/>
        </p:nvSpPr>
        <p:spPr>
          <a:xfrm>
            <a:off x="5180076" y="1783080"/>
            <a:ext cx="1828800" cy="2331720"/>
          </a:xfrm>
          <a:prstGeom prst="roundRect">
            <a:avLst>
              <a:gd name="adj" fmla="val 3500"/>
            </a:avLst>
          </a:prstGeom>
          <a:solidFill>
            <a:srgbClr val="0B3D66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38444" y="19842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38444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289804" y="2651760"/>
            <a:ext cx="1609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Marketing Effects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(Adstock + Saturation)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00316" y="2802636"/>
            <a:ext cx="256032" cy="292608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19" name="Shape 17"/>
          <p:cNvSpPr/>
          <p:nvPr/>
        </p:nvSpPr>
        <p:spPr>
          <a:xfrm>
            <a:off x="7447788" y="1783080"/>
            <a:ext cx="1828800" cy="2331720"/>
          </a:xfrm>
          <a:prstGeom prst="roundRect">
            <a:avLst>
              <a:gd name="adj" fmla="val 35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06156" y="19842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06156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57516" y="2651760"/>
            <a:ext cx="1609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Channel Contribution &amp; ROI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368028" y="2802636"/>
            <a:ext cx="256032" cy="292608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24" name="Shape 22"/>
          <p:cNvSpPr/>
          <p:nvPr/>
        </p:nvSpPr>
        <p:spPr>
          <a:xfrm>
            <a:off x="9715500" y="1783080"/>
            <a:ext cx="1828800" cy="2331720"/>
          </a:xfrm>
          <a:prstGeom prst="roundRect">
            <a:avLst>
              <a:gd name="adj" fmla="val 3500"/>
            </a:avLst>
          </a:prstGeom>
          <a:solidFill>
            <a:srgbClr val="0B3D66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373868" y="19842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373868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825228" y="2651760"/>
            <a:ext cx="16093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Budget Allocation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68680" y="47457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5001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Baseline  +  Marketing Effects  +  Seasonality  +  Error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&amp; Business Decision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3093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35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ROI BY CHANNEL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828800"/>
          <a:ext cx="57607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178040" y="1234440"/>
            <a:ext cx="4462272" cy="2240280"/>
          </a:xfrm>
          <a:prstGeom prst="roundRect">
            <a:avLst>
              <a:gd name="adj" fmla="val 3265"/>
            </a:avLst>
          </a:prstGeom>
          <a:solidFill>
            <a:srgbClr val="0B3D66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98080" y="1490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1856232"/>
            <a:ext cx="38221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provides higher estimated returns than TV and promotions.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178040" y="3749040"/>
            <a:ext cx="4462272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498080" y="4005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4370832"/>
            <a:ext cx="38221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spending equally, reallocate budget toward higher-performing channels — while accounting for diminishing returns and business constraints.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0B3D66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733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channel contribution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417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0B3D66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99432" y="16733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9432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marketing ROI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0B3D66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94192" y="16733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94192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budget allocation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0B3D66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336499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3364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🔮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“what-if” scenarios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343400" y="3108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0B3D66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99432" y="336499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99432" y="3364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marketing efficiency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2A541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68680" y="50840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5349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MMM converts historical marketing data into actionable budget decisions.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577900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→  Contribution  →  ROI  →  Optimization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2026-08-29T10:59:25Z</dcterms:created>
  <dcterms:modified xsi:type="dcterms:W3CDTF">2026-08-29T10:59:25Z</dcterms:modified>
</cp:coreProperties>
</file>